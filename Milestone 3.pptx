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68" r:id="rId5"/>
    <p:sldId id="270" r:id="rId6"/>
    <p:sldId id="272" r:id="rId7"/>
    <p:sldId id="269" r:id="rId8"/>
    <p:sldId id="271" r:id="rId9"/>
    <p:sldId id="273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86" y="-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8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4F94E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2FD3C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TRAFFIC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Accident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walkthrough of accident severity, hotspots, causes, risk and response-performance analytics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280160" cy="0"/>
          </a:xfrm>
          <a:prstGeom prst="line">
            <a:avLst/>
          </a:prstGeom>
          <a:noFill/>
          <a:ln w="38100">
            <a:solidFill>
              <a:srgbClr val="4F9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Rhutuja  |  Power BI Report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8745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Severity 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91640" y="2295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 of 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8346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Hotspot Intelligence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9164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 of 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7947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&amp; Causal Hotspots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91640" y="4215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3 of 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75488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75488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&amp; Road Risk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91640" y="5175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4 of 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87452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18745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Performance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78040" y="2295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5 of 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28346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780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Priority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7804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6 of 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79476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B1E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7947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17804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Coverage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78040" y="4215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7 of 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7D538-AC38-9C72-003B-1ABF62CBB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8" y="91081"/>
            <a:ext cx="11793071" cy="660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5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3E321-8123-E50B-7044-6AB2331C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90562"/>
            <a:ext cx="11940988" cy="66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50A47-CB9C-F205-1124-5C1B7D6A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C3449-8D4B-C0D9-9090-055FFACB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07576"/>
            <a:ext cx="11851341" cy="66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8F94-2A00-9C58-1EAC-4E5F370B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C69D4-4347-70F1-C133-38F4F3F8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1" y="85470"/>
            <a:ext cx="11958918" cy="661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1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0468-EB15-F5FE-79CD-F0F2FCE2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9A1D8-B760-C690-D334-0B5F9F74D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" y="84879"/>
            <a:ext cx="11878235" cy="668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7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2DD6-8EEF-E5DC-5012-F5D075F4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0858B-D01A-2977-69CC-55F4FD81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96094"/>
            <a:ext cx="11797553" cy="662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2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7314-B05D-69A8-2FC5-65E5983C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E68CA-13DC-21F9-53C4-7A4EB9079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8" y="98074"/>
            <a:ext cx="11896164" cy="666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79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B1E2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928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Incidents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0" y="178308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B1E23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8928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Casualties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B1E23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928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Incidents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B1E23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928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9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Incident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410712"/>
            <a:ext cx="100584" cy="100584"/>
          </a:xfrm>
          <a:prstGeom prst="ellipse">
            <a:avLst/>
          </a:prstGeom>
          <a:solidFill>
            <a:srgbClr val="2FD3C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26440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weather and asphalt roads account for the overwhelming majority of casualties — conditions alone don't explain severity.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100584" cy="100584"/>
          </a:xfrm>
          <a:prstGeom prst="ellipse">
            <a:avLst/>
          </a:prstGeom>
          <a:solidFill>
            <a:srgbClr val="2FD3C4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01421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concentrate heavily in "Other" and Office-area zones, and spike in the 15:00–18:00 afternoon window.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910328"/>
            <a:ext cx="100584" cy="100584"/>
          </a:xfrm>
          <a:prstGeom prst="ellipse">
            <a:avLst/>
          </a:prstGeom>
          <a:solidFill>
            <a:srgbClr val="2FD3C4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76402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distancing, unsafe lane changes, and careless driving are the leading contributing causes across fatal and serious incidents.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5660136"/>
            <a:ext cx="100584" cy="100584"/>
          </a:xfrm>
          <a:prstGeom prst="ellipse">
            <a:avLst/>
          </a:prstGeom>
          <a:solidFill>
            <a:srgbClr val="2FD3C4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5138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57.7% of incidents are Standard priority, but Critical/High-priority cases cluster in Residential and Office areas — a clear target for response planning.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4F94E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2FD3C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9A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202</Words>
  <Application>Microsoft Office PowerPoint</Application>
  <PresentationFormat>Widescreen</PresentationFormat>
  <Paragraphs>48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Rhutuja Kshirsagar</cp:lastModifiedBy>
  <cp:revision>5</cp:revision>
  <dcterms:created xsi:type="dcterms:W3CDTF">2026-08-24T19:00:47Z</dcterms:created>
  <dcterms:modified xsi:type="dcterms:W3CDTF">2026-09-07T13:53:19Z</dcterms:modified>
</cp:coreProperties>
</file>